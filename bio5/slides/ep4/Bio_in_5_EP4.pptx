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2743200"/>
            <a:ext cx="8229600" cy="8229600"/>
          </a:xfrm>
          <a:prstGeom prst="oval">
            <a:avLst/>
          </a:prstGeom>
          <a:solidFill>
            <a:srgbClr val="FFD700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5486400"/>
            <a:ext cx="6400800" cy="6400800"/>
          </a:xfrm>
          <a:prstGeom prst="oval">
            <a:avLst/>
          </a:prstGeom>
          <a:solidFill>
            <a:srgbClr val="FFA502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6400800"/>
            <a:ext cx="4572000" cy="4572000"/>
          </a:xfrm>
          <a:prstGeom prst="oval">
            <a:avLst/>
          </a:prstGeom>
          <a:solidFill>
            <a:srgbClr val="FFD700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40080"/>
            <a:ext cx="1645920" cy="548640"/>
          </a:xfrm>
          <a:prstGeom prst="roundedRect">
            <a:avLst>
              <a:gd name="adj" fmla="val 50000"/>
            </a:avLst>
          </a:prstGeom>
          <a:solidFill>
            <a:srgbClr val="FFD7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00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0B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EP 4/5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 IN 5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85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</a:t>
            </a:r>
            <a:endParaRPr lang="en-US" sz="72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BLUEPRINT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48640" y="58521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A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body's source code, decoded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7863840"/>
            <a:ext cx="2560320" cy="640080"/>
          </a:xfrm>
          <a:prstGeom prst="roundedRect">
            <a:avLst>
              <a:gd name="adj" fmla="val 50000"/>
            </a:avLst>
          </a:prstGeom>
          <a:solidFill>
            <a:srgbClr val="FFD70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7863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0D0B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SWIPE →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oval">
            <a:avLst/>
          </a:prstGeom>
          <a:solidFill>
            <a:srgbClr val="FFD700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4572000"/>
            <a:ext cx="5486400" cy="5486400"/>
          </a:xfrm>
          <a:prstGeom prst="oval">
            <a:avLst/>
          </a:prstGeom>
          <a:solidFill>
            <a:srgbClr val="FFA502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most important</a:t>
            </a:r>
            <a:endParaRPr lang="en-US" sz="4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 of information</a:t>
            </a:r>
            <a:endParaRPr lang="en-US" sz="4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ALL of life 🧬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594360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→ RNA → Protein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called the Central Dogma.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your genetic code becomes YOU.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5526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7" name="Shape 5"/>
          <p:cNvSpPr/>
          <p:nvPr/>
        </p:nvSpPr>
        <p:spPr>
          <a:xfrm>
            <a:off x="3547872" y="8366760"/>
            <a:ext cx="164592" cy="164592"/>
          </a:xfrm>
          <a:prstGeom prst="oval">
            <a:avLst/>
          </a:prstGeom>
          <a:solidFill>
            <a:srgbClr val="FFD700"/>
          </a:solidFill>
          <a:ln/>
        </p:spPr>
      </p:sp>
      <p:sp>
        <p:nvSpPr>
          <p:cNvPr id="8" name="Shape 6"/>
          <p:cNvSpPr/>
          <p:nvPr/>
        </p:nvSpPr>
        <p:spPr>
          <a:xfrm>
            <a:off x="384048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9" name="Shape 7"/>
          <p:cNvSpPr/>
          <p:nvPr/>
        </p:nvSpPr>
        <p:spPr>
          <a:xfrm>
            <a:off x="413308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4425696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1" name="Shape 9"/>
          <p:cNvSpPr/>
          <p:nvPr/>
        </p:nvSpPr>
        <p:spPr>
          <a:xfrm>
            <a:off x="471830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501091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530352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559612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7498080"/>
          </a:xfrm>
          <a:prstGeom prst="roundedRect">
            <a:avLst>
              <a:gd name="adj" fmla="val 3659"/>
            </a:avLst>
          </a:prstGeom>
          <a:solidFill>
            <a:srgbClr val="151329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1005840" cy="1005840"/>
          </a:xfrm>
          <a:prstGeom prst="oval">
            <a:avLst/>
          </a:prstGeom>
          <a:solidFill>
            <a:srgbClr val="FFD700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🧬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011680" y="82296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DNA = The Master Blueprint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7498080" cy="36576"/>
          </a:xfrm>
          <a:prstGeom prst="rect">
            <a:avLst/>
          </a:prstGeom>
          <a:solidFill>
            <a:srgbClr val="FFD700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68880"/>
            <a:ext cx="749808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helix = two strands twisted like a spiral staircase 🌀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"steps" are base pairs: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pairs with T  (Adenine ↔ Thymine)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pairs with G  (Cytosine ↔ Guanine)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of these letters IS your genetic code.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it. That's the secret of life.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5526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9" name="Shape 7"/>
          <p:cNvSpPr/>
          <p:nvPr/>
        </p:nvSpPr>
        <p:spPr>
          <a:xfrm>
            <a:off x="354787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0" y="8366760"/>
            <a:ext cx="164592" cy="164592"/>
          </a:xfrm>
          <a:prstGeom prst="oval">
            <a:avLst/>
          </a:prstGeom>
          <a:solidFill>
            <a:srgbClr val="FFD700"/>
          </a:solidFill>
          <a:ln/>
        </p:spPr>
      </p:sp>
      <p:sp>
        <p:nvSpPr>
          <p:cNvPr id="11" name="Shape 9"/>
          <p:cNvSpPr/>
          <p:nvPr/>
        </p:nvSpPr>
        <p:spPr>
          <a:xfrm>
            <a:off x="413308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4425696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471830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501091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5" name="Shape 13"/>
          <p:cNvSpPr/>
          <p:nvPr/>
        </p:nvSpPr>
        <p:spPr>
          <a:xfrm>
            <a:off x="530352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6" name="Shape 14"/>
          <p:cNvSpPr/>
          <p:nvPr/>
        </p:nvSpPr>
        <p:spPr>
          <a:xfrm>
            <a:off x="559612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7498080"/>
          </a:xfrm>
          <a:prstGeom prst="roundedRect">
            <a:avLst>
              <a:gd name="adj" fmla="val 3659"/>
            </a:avLst>
          </a:prstGeom>
          <a:solidFill>
            <a:srgbClr val="151329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1005840" cy="1005840"/>
          </a:xfrm>
          <a:prstGeom prst="oval">
            <a:avLst/>
          </a:prstGeom>
          <a:solidFill>
            <a:srgbClr val="FFD700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📋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011680" y="82296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1: REPLICATION (Copy)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7498080" cy="36576"/>
          </a:xfrm>
          <a:prstGeom prst="rect">
            <a:avLst/>
          </a:prstGeom>
          <a:solidFill>
            <a:srgbClr val="FFD700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68880"/>
            <a:ext cx="749808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 cell divides → it copies its DNA.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helix UNZIPS down the middle ⬇️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polymerase reads each strand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builds a matching copy.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2 identical DNA molecules from 1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rate: ~1 mistake per BILLION letters.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copy machine could never. 🖨️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5526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9" name="Shape 7"/>
          <p:cNvSpPr/>
          <p:nvPr/>
        </p:nvSpPr>
        <p:spPr>
          <a:xfrm>
            <a:off x="354787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1" name="Shape 9"/>
          <p:cNvSpPr/>
          <p:nvPr/>
        </p:nvSpPr>
        <p:spPr>
          <a:xfrm>
            <a:off x="4133088" y="8366760"/>
            <a:ext cx="164592" cy="164592"/>
          </a:xfrm>
          <a:prstGeom prst="oval">
            <a:avLst/>
          </a:prstGeom>
          <a:solidFill>
            <a:srgbClr val="FFD700"/>
          </a:solidFill>
          <a:ln/>
        </p:spPr>
      </p:sp>
      <p:sp>
        <p:nvSpPr>
          <p:cNvPr id="12" name="Shape 10"/>
          <p:cNvSpPr/>
          <p:nvPr/>
        </p:nvSpPr>
        <p:spPr>
          <a:xfrm>
            <a:off x="4425696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471830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501091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5" name="Shape 13"/>
          <p:cNvSpPr/>
          <p:nvPr/>
        </p:nvSpPr>
        <p:spPr>
          <a:xfrm>
            <a:off x="530352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6" name="Shape 14"/>
          <p:cNvSpPr/>
          <p:nvPr/>
        </p:nvSpPr>
        <p:spPr>
          <a:xfrm>
            <a:off x="559612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7498080"/>
          </a:xfrm>
          <a:prstGeom prst="roundedRect">
            <a:avLst>
              <a:gd name="adj" fmla="val 3659"/>
            </a:avLst>
          </a:prstGeom>
          <a:solidFill>
            <a:srgbClr val="151329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1005840" cy="1005840"/>
          </a:xfrm>
          <a:prstGeom prst="oval">
            <a:avLst/>
          </a:prstGeom>
          <a:solidFill>
            <a:srgbClr val="FFD700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✉️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011680" y="82296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2: TRANSCRIPTION (Message)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7498080" cy="36576"/>
          </a:xfrm>
          <a:prstGeom prst="rect">
            <a:avLst/>
          </a:prstGeom>
          <a:solidFill>
            <a:srgbClr val="FFD700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68880"/>
            <a:ext cx="749808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can't leave the nucleus. So it sends a messenger.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section of DNA unzips.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 polymerase reads it &amp; builds an mRNA copy.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this: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= master recipe book 📖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mRNA = photocopy of ONE recipe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stays safe. Copy goes to the kitchen.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5526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9" name="Shape 7"/>
          <p:cNvSpPr/>
          <p:nvPr/>
        </p:nvSpPr>
        <p:spPr>
          <a:xfrm>
            <a:off x="354787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1" name="Shape 9"/>
          <p:cNvSpPr/>
          <p:nvPr/>
        </p:nvSpPr>
        <p:spPr>
          <a:xfrm>
            <a:off x="413308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4425696" y="8366760"/>
            <a:ext cx="164592" cy="164592"/>
          </a:xfrm>
          <a:prstGeom prst="oval">
            <a:avLst/>
          </a:prstGeom>
          <a:solidFill>
            <a:srgbClr val="FFD7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71830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501091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5" name="Shape 13"/>
          <p:cNvSpPr/>
          <p:nvPr/>
        </p:nvSpPr>
        <p:spPr>
          <a:xfrm>
            <a:off x="530352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6" name="Shape 14"/>
          <p:cNvSpPr/>
          <p:nvPr/>
        </p:nvSpPr>
        <p:spPr>
          <a:xfrm>
            <a:off x="559612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7498080"/>
          </a:xfrm>
          <a:prstGeom prst="roundedRect">
            <a:avLst>
              <a:gd name="adj" fmla="val 3659"/>
            </a:avLst>
          </a:prstGeom>
          <a:solidFill>
            <a:srgbClr val="151329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1005840" cy="1005840"/>
          </a:xfrm>
          <a:prstGeom prst="oval">
            <a:avLst/>
          </a:prstGeom>
          <a:solidFill>
            <a:srgbClr val="FFD700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🏭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011680" y="82296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3: TRANSLATION (Build)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7498080" cy="36576"/>
          </a:xfrm>
          <a:prstGeom prst="rect">
            <a:avLst/>
          </a:prstGeom>
          <a:solidFill>
            <a:srgbClr val="FFD700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68880"/>
            <a:ext cx="749808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mRNA travels to a ribosome (the protein factory).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Ribosome reads mRNA 3 letters at a time.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group of 3 = one amino acid.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tRNA brings matching amino acids like delivery drivers 🚚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link up into a chain → that chain = a PROTEIN.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cells are basically 3D printers.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5526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9" name="Shape 7"/>
          <p:cNvSpPr/>
          <p:nvPr/>
        </p:nvSpPr>
        <p:spPr>
          <a:xfrm>
            <a:off x="354787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1" name="Shape 9"/>
          <p:cNvSpPr/>
          <p:nvPr/>
        </p:nvSpPr>
        <p:spPr>
          <a:xfrm>
            <a:off x="413308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4425696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4718304" y="8366760"/>
            <a:ext cx="164592" cy="164592"/>
          </a:xfrm>
          <a:prstGeom prst="oval">
            <a:avLst/>
          </a:prstGeom>
          <a:solidFill>
            <a:srgbClr val="FFD700"/>
          </a:solidFill>
          <a:ln/>
        </p:spPr>
      </p:sp>
      <p:sp>
        <p:nvSpPr>
          <p:cNvPr id="14" name="Shape 12"/>
          <p:cNvSpPr/>
          <p:nvPr/>
        </p:nvSpPr>
        <p:spPr>
          <a:xfrm>
            <a:off x="501091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5" name="Shape 13"/>
          <p:cNvSpPr/>
          <p:nvPr/>
        </p:nvSpPr>
        <p:spPr>
          <a:xfrm>
            <a:off x="530352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6" name="Shape 14"/>
          <p:cNvSpPr/>
          <p:nvPr/>
        </p:nvSpPr>
        <p:spPr>
          <a:xfrm>
            <a:off x="559612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oval">
            <a:avLst/>
          </a:prstGeom>
          <a:solidFill>
            <a:srgbClr val="FFD700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4572000"/>
            <a:ext cx="5486400" cy="5486400"/>
          </a:xfrm>
          <a:prstGeom prst="oval">
            <a:avLst/>
          </a:prstGeom>
          <a:solidFill>
            <a:srgbClr val="FFA502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DNA → Copy it</a:t>
            </a:r>
            <a:endParaRPr lang="en-US" sz="4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DNA → Message it</a:t>
            </a:r>
            <a:endParaRPr lang="en-US" sz="4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mRNA → Build it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594360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happening in ALL 37 TRILLION of your cells.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now. While you read this slide.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5526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7" name="Shape 5"/>
          <p:cNvSpPr/>
          <p:nvPr/>
        </p:nvSpPr>
        <p:spPr>
          <a:xfrm>
            <a:off x="354787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8" name="Shape 6"/>
          <p:cNvSpPr/>
          <p:nvPr/>
        </p:nvSpPr>
        <p:spPr>
          <a:xfrm>
            <a:off x="384048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9" name="Shape 7"/>
          <p:cNvSpPr/>
          <p:nvPr/>
        </p:nvSpPr>
        <p:spPr>
          <a:xfrm>
            <a:off x="413308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4425696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1" name="Shape 9"/>
          <p:cNvSpPr/>
          <p:nvPr/>
        </p:nvSpPr>
        <p:spPr>
          <a:xfrm>
            <a:off x="471830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5010912" y="8366760"/>
            <a:ext cx="164592" cy="164592"/>
          </a:xfrm>
          <a:prstGeom prst="oval">
            <a:avLst/>
          </a:prstGeom>
          <a:solidFill>
            <a:srgbClr val="FFD700"/>
          </a:solidFill>
          <a:ln/>
        </p:spPr>
      </p:sp>
      <p:sp>
        <p:nvSpPr>
          <p:cNvPr id="13" name="Shape 11"/>
          <p:cNvSpPr/>
          <p:nvPr/>
        </p:nvSpPr>
        <p:spPr>
          <a:xfrm>
            <a:off x="530352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559612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oval">
            <a:avLst/>
          </a:prstGeom>
          <a:solidFill>
            <a:srgbClr val="FFD700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4572000"/>
            <a:ext cx="5486400" cy="5486400"/>
          </a:xfrm>
          <a:prstGeom prst="oval">
            <a:avLst/>
          </a:prstGeom>
          <a:solidFill>
            <a:srgbClr val="FFA502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DNA is a</a:t>
            </a:r>
            <a:endParaRPr lang="en-US" sz="4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3-billion-letter</a:t>
            </a:r>
            <a:endParaRPr lang="en-US" sz="4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instruction manual 📖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594360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your cells read it, copy it, and execute it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flawlessly — millions of times a day —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you even thinking about it.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welcome. — Your Cells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5526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7" name="Shape 5"/>
          <p:cNvSpPr/>
          <p:nvPr/>
        </p:nvSpPr>
        <p:spPr>
          <a:xfrm>
            <a:off x="354787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8" name="Shape 6"/>
          <p:cNvSpPr/>
          <p:nvPr/>
        </p:nvSpPr>
        <p:spPr>
          <a:xfrm>
            <a:off x="384048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9" name="Shape 7"/>
          <p:cNvSpPr/>
          <p:nvPr/>
        </p:nvSpPr>
        <p:spPr>
          <a:xfrm>
            <a:off x="413308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4425696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1" name="Shape 9"/>
          <p:cNvSpPr/>
          <p:nvPr/>
        </p:nvSpPr>
        <p:spPr>
          <a:xfrm>
            <a:off x="471830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501091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5303520" y="8366760"/>
            <a:ext cx="164592" cy="164592"/>
          </a:xfrm>
          <a:prstGeom prst="oval">
            <a:avLst/>
          </a:prstGeom>
          <a:solidFill>
            <a:srgbClr val="FFD700"/>
          </a:solidFill>
          <a:ln/>
        </p:spPr>
      </p:sp>
      <p:sp>
        <p:nvSpPr>
          <p:cNvPr id="14" name="Shape 12"/>
          <p:cNvSpPr/>
          <p:nvPr/>
        </p:nvSpPr>
        <p:spPr>
          <a:xfrm>
            <a:off x="559612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914400"/>
            <a:ext cx="4572000" cy="4572000"/>
          </a:xfrm>
          <a:prstGeom prst="oval">
            <a:avLst/>
          </a:prstGeom>
          <a:solidFill>
            <a:srgbClr val="FFD70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57600" y="2743200"/>
            <a:ext cx="2743200" cy="2743200"/>
          </a:xfrm>
          <a:prstGeom prst="oval">
            <a:avLst/>
          </a:prstGeom>
          <a:solidFill>
            <a:srgbClr val="FFA502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500" kern="0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UP 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ENERGY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1371600" y="6400800"/>
            <a:ext cx="2011680" cy="594360"/>
          </a:xfrm>
          <a:prstGeom prst="roundedRect">
            <a:avLst>
              <a:gd name="adj" fmla="val 49231"/>
            </a:avLst>
          </a:prstGeom>
          <a:solidFill>
            <a:srgbClr val="FFD700">
              <a:alpha val="25000"/>
            </a:srgbClr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64008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💾 SAVE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749040" y="6400800"/>
            <a:ext cx="2011680" cy="594360"/>
          </a:xfrm>
          <a:prstGeom prst="roundedRect">
            <a:avLst>
              <a:gd name="adj" fmla="val 49231"/>
            </a:avLst>
          </a:prstGeom>
          <a:solidFill>
            <a:srgbClr val="FFD700">
              <a:alpha val="25000"/>
            </a:srgbClr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64008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📤 SHARE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6400800"/>
            <a:ext cx="2011680" cy="594360"/>
          </a:xfrm>
          <a:prstGeom prst="roundedRect">
            <a:avLst>
              <a:gd name="adj" fmla="val 49231"/>
            </a:avLst>
          </a:prstGeom>
          <a:solidFill>
            <a:srgbClr val="FFD700">
              <a:alpha val="25000"/>
            </a:srgbClr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64008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➕ FOLLOW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7772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 IN 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2026-02-17T18:06:59Z</dcterms:created>
  <dcterms:modified xsi:type="dcterms:W3CDTF">2026-02-17T18:06:59Z</dcterms:modified>
</cp:coreProperties>
</file>