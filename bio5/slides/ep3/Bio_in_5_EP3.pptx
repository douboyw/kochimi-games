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2743200"/>
            <a:ext cx="8229600" cy="8229600"/>
          </a:xfrm>
          <a:prstGeom prst="oval">
            <a:avLst/>
          </a:prstGeom>
          <a:solidFill>
            <a:srgbClr val="FF4757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5486400"/>
            <a:ext cx="6400800" cy="6400800"/>
          </a:xfrm>
          <a:prstGeom prst="oval">
            <a:avLst/>
          </a:prstGeom>
          <a:solidFill>
            <a:srgbClr val="FF6B81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6400800"/>
            <a:ext cx="4572000" cy="4572000"/>
          </a:xfrm>
          <a:prstGeom prst="oval">
            <a:avLst/>
          </a:prstGeom>
          <a:solidFill>
            <a:srgbClr val="FF4757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40080"/>
            <a:ext cx="1645920" cy="548640"/>
          </a:xfrm>
          <a:prstGeom prst="roundedRect">
            <a:avLst>
              <a:gd name="adj" fmla="val 50000"/>
            </a:avLst>
          </a:prstGeom>
          <a:solidFill>
            <a:srgbClr val="FF475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EP 3/5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FF4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 IN 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5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PROTEIN</a:t>
            </a:r>
            <a:endParaRPr lang="en-US" sz="72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POWER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48640" y="58521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6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is literally everything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7863840"/>
            <a:ext cx="2560320" cy="640080"/>
          </a:xfrm>
          <a:prstGeom prst="roundedRect">
            <a:avLst>
              <a:gd name="adj" fmla="val 50000"/>
            </a:avLst>
          </a:prstGeom>
          <a:solidFill>
            <a:srgbClr val="FF475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7863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1A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SWIPE →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oval">
            <a:avLst/>
          </a:prstGeom>
          <a:solidFill>
            <a:srgbClr val="FF4757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4572000"/>
            <a:ext cx="5486400" cy="5486400"/>
          </a:xfrm>
          <a:prstGeom prst="oval">
            <a:avLst/>
          </a:prstGeom>
          <a:solidFill>
            <a:srgbClr val="FF6B81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your body is a city 🏙️</a:t>
            </a:r>
            <a:endParaRPr lang="en-US" sz="4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proteins are the workers</a:t>
            </a:r>
            <a:endParaRPr lang="en-US" sz="4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do EVERYTHING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594360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Construction. Delivery. Security. Cleanup. Communication.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literally a protein for that.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5526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7" name="Shape 5"/>
          <p:cNvSpPr/>
          <p:nvPr/>
        </p:nvSpPr>
        <p:spPr>
          <a:xfrm>
            <a:off x="3547872" y="8366760"/>
            <a:ext cx="164592" cy="164592"/>
          </a:xfrm>
          <a:prstGeom prst="oval">
            <a:avLst/>
          </a:prstGeom>
          <a:solidFill>
            <a:srgbClr val="FF4757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9" name="Shape 7"/>
          <p:cNvSpPr/>
          <p:nvPr/>
        </p:nvSpPr>
        <p:spPr>
          <a:xfrm>
            <a:off x="413308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4425696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471830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501091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530352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559612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7498080"/>
          </a:xfrm>
          <a:prstGeom prst="roundedRect">
            <a:avLst>
              <a:gd name="adj" fmla="val 3659"/>
            </a:avLst>
          </a:prstGeom>
          <a:solidFill>
            <a:srgbClr val="220808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1005840" cy="1005840"/>
          </a:xfrm>
          <a:prstGeom prst="oval">
            <a:avLst/>
          </a:prstGeom>
          <a:solidFill>
            <a:srgbClr val="FF4757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📿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82296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4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from Amino Acids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7498080" cy="36576"/>
          </a:xfrm>
          <a:prstGeom prst="rect">
            <a:avLst/>
          </a:prstGeom>
          <a:solidFill>
            <a:srgbClr val="FF4757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749808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Proteins = chains of amino acids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(think: beads on a string)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different amino acids exist.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body makes 11 of them.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9? You gotta EAT them.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(That's why they're called "essential" 🍗)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combos → different proteins → different jobs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5526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9" name="Shape 7"/>
          <p:cNvSpPr/>
          <p:nvPr/>
        </p:nvSpPr>
        <p:spPr>
          <a:xfrm>
            <a:off x="354787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0" y="8366760"/>
            <a:ext cx="164592" cy="164592"/>
          </a:xfrm>
          <a:prstGeom prst="oval">
            <a:avLst/>
          </a:prstGeom>
          <a:solidFill>
            <a:srgbClr val="FF4757"/>
          </a:solidFill>
          <a:ln/>
        </p:spPr>
      </p:sp>
      <p:sp>
        <p:nvSpPr>
          <p:cNvPr id="11" name="Shape 9"/>
          <p:cNvSpPr/>
          <p:nvPr/>
        </p:nvSpPr>
        <p:spPr>
          <a:xfrm>
            <a:off x="413308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4425696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471830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501091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6" name="Shape 14"/>
          <p:cNvSpPr/>
          <p:nvPr/>
        </p:nvSpPr>
        <p:spPr>
          <a:xfrm>
            <a:off x="559612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7498080"/>
          </a:xfrm>
          <a:prstGeom prst="roundedRect">
            <a:avLst>
              <a:gd name="adj" fmla="val 3659"/>
            </a:avLst>
          </a:prstGeom>
          <a:solidFill>
            <a:srgbClr val="220808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1005840" cy="1005840"/>
          </a:xfrm>
          <a:prstGeom prst="oval">
            <a:avLst/>
          </a:prstGeom>
          <a:solidFill>
            <a:srgbClr val="FF4757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🎭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82296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4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Shape = EVERYTHING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7498080" cy="36576"/>
          </a:xfrm>
          <a:prstGeom prst="rect">
            <a:avLst/>
          </a:prstGeom>
          <a:solidFill>
            <a:srgbClr val="FF4757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749808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protein's 3D shape determines what it does.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amino acid chain folds like origami 🪭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shape fits a specific job.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Misfold a protein? It breaks.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diseases (like Alzheimer's) are caused by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proteins that folded wrong. Shape matters.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5526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9" name="Shape 7"/>
          <p:cNvSpPr/>
          <p:nvPr/>
        </p:nvSpPr>
        <p:spPr>
          <a:xfrm>
            <a:off x="354787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4133088" y="8366760"/>
            <a:ext cx="164592" cy="164592"/>
          </a:xfrm>
          <a:prstGeom prst="oval">
            <a:avLst/>
          </a:prstGeom>
          <a:solidFill>
            <a:srgbClr val="FF4757"/>
          </a:solidFill>
          <a:ln/>
        </p:spPr>
      </p:sp>
      <p:sp>
        <p:nvSpPr>
          <p:cNvPr id="12" name="Shape 10"/>
          <p:cNvSpPr/>
          <p:nvPr/>
        </p:nvSpPr>
        <p:spPr>
          <a:xfrm>
            <a:off x="4425696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471830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501091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6" name="Shape 14"/>
          <p:cNvSpPr/>
          <p:nvPr/>
        </p:nvSpPr>
        <p:spPr>
          <a:xfrm>
            <a:off x="559612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oval">
            <a:avLst/>
          </a:prstGeom>
          <a:solidFill>
            <a:srgbClr val="FF4757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4572000"/>
            <a:ext cx="5486400" cy="5486400"/>
          </a:xfrm>
          <a:prstGeom prst="oval">
            <a:avLst/>
          </a:prstGeom>
          <a:solidFill>
            <a:srgbClr val="FF6B81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enzymes,</a:t>
            </a:r>
            <a:endParaRPr lang="en-US" sz="4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digesting ONE meal</a:t>
            </a:r>
            <a:endParaRPr lang="en-US" sz="4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would take ~50 years 😱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594360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Enzymes = special proteins that SPEED UP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reactions in your body. They're insane.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5526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7" name="Shape 5"/>
          <p:cNvSpPr/>
          <p:nvPr/>
        </p:nvSpPr>
        <p:spPr>
          <a:xfrm>
            <a:off x="354787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9" name="Shape 7"/>
          <p:cNvSpPr/>
          <p:nvPr/>
        </p:nvSpPr>
        <p:spPr>
          <a:xfrm>
            <a:off x="413308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4425696" y="8366760"/>
            <a:ext cx="164592" cy="164592"/>
          </a:xfrm>
          <a:prstGeom prst="oval">
            <a:avLst/>
          </a:prstGeom>
          <a:solidFill>
            <a:srgbClr val="FF4757"/>
          </a:solidFill>
          <a:ln/>
        </p:spPr>
      </p:sp>
      <p:sp>
        <p:nvSpPr>
          <p:cNvPr id="11" name="Shape 9"/>
          <p:cNvSpPr/>
          <p:nvPr/>
        </p:nvSpPr>
        <p:spPr>
          <a:xfrm>
            <a:off x="471830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501091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530352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559612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7498080"/>
          </a:xfrm>
          <a:prstGeom prst="roundedRect">
            <a:avLst>
              <a:gd name="adj" fmla="val 3659"/>
            </a:avLst>
          </a:prstGeom>
          <a:solidFill>
            <a:srgbClr val="220808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1005840" cy="1005840"/>
          </a:xfrm>
          <a:prstGeom prst="oval">
            <a:avLst/>
          </a:prstGeom>
          <a:solidFill>
            <a:srgbClr val="FF4757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🔐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82296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4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Lock &amp; Key Model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7498080" cy="36576"/>
          </a:xfrm>
          <a:prstGeom prst="rect">
            <a:avLst/>
          </a:prstGeom>
          <a:solidFill>
            <a:srgbClr val="FF4757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749808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enzyme has an "active site" — a specific shape where ONLY the right molecule fits.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lock that only opens with the right key 🔑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Substrate clicks in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Reaction happens (FAST)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Products released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Enzyme resets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happens MILLIONS of times per second.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5526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9" name="Shape 7"/>
          <p:cNvSpPr/>
          <p:nvPr/>
        </p:nvSpPr>
        <p:spPr>
          <a:xfrm>
            <a:off x="354787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413308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4425696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4718304" y="8366760"/>
            <a:ext cx="164592" cy="164592"/>
          </a:xfrm>
          <a:prstGeom prst="oval">
            <a:avLst/>
          </a:prstGeom>
          <a:solidFill>
            <a:srgbClr val="FF4757"/>
          </a:solidFill>
          <a:ln/>
        </p:spPr>
      </p:sp>
      <p:sp>
        <p:nvSpPr>
          <p:cNvPr id="14" name="Shape 12"/>
          <p:cNvSpPr/>
          <p:nvPr/>
        </p:nvSpPr>
        <p:spPr>
          <a:xfrm>
            <a:off x="501091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6" name="Shape 14"/>
          <p:cNvSpPr/>
          <p:nvPr/>
        </p:nvSpPr>
        <p:spPr>
          <a:xfrm>
            <a:off x="559612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Enzymes IRL 🧫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794760" cy="3017520"/>
          </a:xfrm>
          <a:prstGeom prst="roundedRect">
            <a:avLst>
              <a:gd name="adj" fmla="val 6061"/>
            </a:avLst>
          </a:prstGeom>
          <a:solidFill>
            <a:srgbClr val="22080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1554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Amylase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33375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MOUTH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starch → sugar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bread tastes sweet if you chew it long enough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00600" y="1371600"/>
            <a:ext cx="3794760" cy="3017520"/>
          </a:xfrm>
          <a:prstGeom prst="roundedRect">
            <a:avLst>
              <a:gd name="adj" fmla="val 6061"/>
            </a:avLst>
          </a:prstGeom>
          <a:solidFill>
            <a:srgbClr val="22080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🥛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532120" y="1554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Lactase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29200" y="2148840"/>
            <a:ext cx="33375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small intestine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down milk sugar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it? = lactose intolerant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3794760" cy="3017520"/>
          </a:xfrm>
          <a:prstGeom prst="roundedRect">
            <a:avLst>
              <a:gd name="adj" fmla="val 6061"/>
            </a:avLst>
          </a:prstGeom>
          <a:solidFill>
            <a:srgbClr val="22080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🧬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48920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DNA Polymerase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5486400"/>
            <a:ext cx="33375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nucleus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your DNA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Ridiculously accurate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00600" y="4709160"/>
            <a:ext cx="3794760" cy="3017520"/>
          </a:xfrm>
          <a:prstGeom prst="roundedRect">
            <a:avLst>
              <a:gd name="adj" fmla="val 6061"/>
            </a:avLst>
          </a:prstGeom>
          <a:solidFill>
            <a:srgbClr val="22080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32120" y="48920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ATP Synthase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029200" y="5486400"/>
            <a:ext cx="33375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mitochondria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energy (ATP)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Spins like a tiny MOTOR 🌀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5526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20" name="Shape 18"/>
          <p:cNvSpPr/>
          <p:nvPr/>
        </p:nvSpPr>
        <p:spPr>
          <a:xfrm>
            <a:off x="354787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21" name="Shape 19"/>
          <p:cNvSpPr/>
          <p:nvPr/>
        </p:nvSpPr>
        <p:spPr>
          <a:xfrm>
            <a:off x="384048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22" name="Shape 20"/>
          <p:cNvSpPr/>
          <p:nvPr/>
        </p:nvSpPr>
        <p:spPr>
          <a:xfrm>
            <a:off x="413308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23" name="Shape 21"/>
          <p:cNvSpPr/>
          <p:nvPr/>
        </p:nvSpPr>
        <p:spPr>
          <a:xfrm>
            <a:off x="4425696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24" name="Shape 22"/>
          <p:cNvSpPr/>
          <p:nvPr/>
        </p:nvSpPr>
        <p:spPr>
          <a:xfrm>
            <a:off x="471830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25" name="Shape 23"/>
          <p:cNvSpPr/>
          <p:nvPr/>
        </p:nvSpPr>
        <p:spPr>
          <a:xfrm>
            <a:off x="5010912" y="8366760"/>
            <a:ext cx="164592" cy="164592"/>
          </a:xfrm>
          <a:prstGeom prst="oval">
            <a:avLst/>
          </a:prstGeom>
          <a:solidFill>
            <a:srgbClr val="FF4757"/>
          </a:solidFill>
          <a:ln/>
        </p:spPr>
      </p:sp>
      <p:sp>
        <p:nvSpPr>
          <p:cNvPr id="26" name="Shape 24"/>
          <p:cNvSpPr/>
          <p:nvPr/>
        </p:nvSpPr>
        <p:spPr>
          <a:xfrm>
            <a:off x="530352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27" name="Shape 25"/>
          <p:cNvSpPr/>
          <p:nvPr/>
        </p:nvSpPr>
        <p:spPr>
          <a:xfrm>
            <a:off x="559612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7498080"/>
          </a:xfrm>
          <a:prstGeom prst="roundedRect">
            <a:avLst>
              <a:gd name="adj" fmla="val 3659"/>
            </a:avLst>
          </a:prstGeom>
          <a:solidFill>
            <a:srgbClr val="220808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1005840" cy="1005840"/>
          </a:xfrm>
          <a:prstGeom prst="oval">
            <a:avLst/>
          </a:prstGeom>
          <a:solidFill>
            <a:srgbClr val="FF4757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🍳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82296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4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Denaturation = When Proteins Break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7498080" cy="36576"/>
          </a:xfrm>
          <a:prstGeom prst="rect">
            <a:avLst/>
          </a:prstGeom>
          <a:solidFill>
            <a:srgbClr val="FF4757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749808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Heat, acid, or chemicals can UNFOLD a protein — destroying its shape.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what happens when you cook an egg.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&amp; runny → solid &amp; white.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heat DENATURES the proteins.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unfolded, most can't refold.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trip. No undo button. ❌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5526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9" name="Shape 7"/>
          <p:cNvSpPr/>
          <p:nvPr/>
        </p:nvSpPr>
        <p:spPr>
          <a:xfrm>
            <a:off x="354787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0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413308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4425696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4718304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5010912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0" y="8366760"/>
            <a:ext cx="164592" cy="164592"/>
          </a:xfrm>
          <a:prstGeom prst="oval">
            <a:avLst/>
          </a:prstGeom>
          <a:solidFill>
            <a:srgbClr val="FF4757"/>
          </a:solidFill>
          <a:ln/>
        </p:spPr>
      </p:sp>
      <p:sp>
        <p:nvSpPr>
          <p:cNvPr id="16" name="Shape 14"/>
          <p:cNvSpPr/>
          <p:nvPr/>
        </p:nvSpPr>
        <p:spPr>
          <a:xfrm>
            <a:off x="5596128" y="8366760"/>
            <a:ext cx="164592" cy="164592"/>
          </a:xfrm>
          <a:prstGeom prst="oval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914400"/>
            <a:ext cx="4572000" cy="4572000"/>
          </a:xfrm>
          <a:prstGeom prst="oval">
            <a:avLst/>
          </a:prstGeom>
          <a:solidFill>
            <a:srgbClr val="FF4757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2743200"/>
            <a:ext cx="2743200" cy="2743200"/>
          </a:xfrm>
          <a:prstGeom prst="oval">
            <a:avLst/>
          </a:prstGeom>
          <a:solidFill>
            <a:srgbClr val="FF6B81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500" kern="0" dirty="0">
                <a:solidFill>
                  <a:srgbClr val="FF4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UP 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BLUEPRINT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1371600" y="6400800"/>
            <a:ext cx="2011680" cy="594360"/>
          </a:xfrm>
          <a:prstGeom prst="roundedRect">
            <a:avLst>
              <a:gd name="adj" fmla="val 49231"/>
            </a:avLst>
          </a:prstGeom>
          <a:solidFill>
            <a:srgbClr val="FF4757">
              <a:alpha val="25000"/>
            </a:srgbClr>
          </a:solidFill>
          <a:ln w="19050">
            <a:solidFill>
              <a:srgbClr val="FF4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6400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💾 SAVE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49040" y="6400800"/>
            <a:ext cx="2011680" cy="594360"/>
          </a:xfrm>
          <a:prstGeom prst="roundedRect">
            <a:avLst>
              <a:gd name="adj" fmla="val 49231"/>
            </a:avLst>
          </a:prstGeom>
          <a:solidFill>
            <a:srgbClr val="FF4757">
              <a:alpha val="25000"/>
            </a:srgbClr>
          </a:solidFill>
          <a:ln w="19050">
            <a:solidFill>
              <a:srgbClr val="FF4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6400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📤 SHARE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6400800"/>
            <a:ext cx="2011680" cy="594360"/>
          </a:xfrm>
          <a:prstGeom prst="roundedRect">
            <a:avLst>
              <a:gd name="adj" fmla="val 49231"/>
            </a:avLst>
          </a:prstGeom>
          <a:solidFill>
            <a:srgbClr val="FF4757">
              <a:alpha val="25000"/>
            </a:srgbClr>
          </a:solidFill>
          <a:ln w="19050">
            <a:solidFill>
              <a:srgbClr val="FF47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6400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➕ FOLLOW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7772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FF4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 IN 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2026-02-17T18:06:59Z</dcterms:created>
  <dcterms:modified xsi:type="dcterms:W3CDTF">2026-02-17T18:06:59Z</dcterms:modified>
</cp:coreProperties>
</file>